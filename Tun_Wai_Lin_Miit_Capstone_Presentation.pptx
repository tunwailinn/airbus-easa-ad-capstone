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7828c8a4eb4542" /><Relationship Type="http://schemas.openxmlformats.org/officeDocument/2006/relationships/extended-properties" Target="/docProps/app.xml" Id="R2f7219e5880b4189" /><Relationship Type="http://schemas.openxmlformats.org/officeDocument/2006/relationships/officeDocument" Target="/ppt/presentation.xml" Id="R5f595eb8994e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cd2d4c8b624864"/>
  </p:sldMasterIdLst>
  <p:notesMasterIdLst>
    <p:notesMasterId xmlns:r="http://schemas.openxmlformats.org/officeDocument/2006/relationships" r:id="R69d822c2f7644b09"/>
  </p:notesMasterIdLst>
  <p:sldIdLst>
    <p:sldId xmlns:r="http://schemas.openxmlformats.org/officeDocument/2006/relationships" id="256" r:id="R50861ee274054e18"/>
    <p:sldId xmlns:r="http://schemas.openxmlformats.org/officeDocument/2006/relationships" id="257" r:id="R41405c13310943d5"/>
    <p:sldId xmlns:r="http://schemas.openxmlformats.org/officeDocument/2006/relationships" id="258" r:id="R0924c6a35e5948a1"/>
    <p:sldId xmlns:r="http://schemas.openxmlformats.org/officeDocument/2006/relationships" id="259" r:id="R9e88e31dcf324c29"/>
    <p:sldId xmlns:r="http://schemas.openxmlformats.org/officeDocument/2006/relationships" id="260" r:id="R425bfa72d0714722"/>
    <p:sldId xmlns:r="http://schemas.openxmlformats.org/officeDocument/2006/relationships" id="261" r:id="R8ead55a7cccd4fde"/>
    <p:sldId xmlns:r="http://schemas.openxmlformats.org/officeDocument/2006/relationships" id="262" r:id="Re796f7d22ef64af5"/>
    <p:sldId xmlns:r="http://schemas.openxmlformats.org/officeDocument/2006/relationships" id="263" r:id="R72acdbfe0bd147b8"/>
    <p:sldId xmlns:r="http://schemas.openxmlformats.org/officeDocument/2006/relationships" id="264" r:id="R9f05080cc70a45bd"/>
    <p:sldId xmlns:r="http://schemas.openxmlformats.org/officeDocument/2006/relationships" id="265" r:id="Refd68bf2012f4184"/>
    <p:sldId xmlns:r="http://schemas.openxmlformats.org/officeDocument/2006/relationships" id="266" r:id="R7e0617ee3b7341da"/>
    <p:sldId xmlns:r="http://schemas.openxmlformats.org/officeDocument/2006/relationships" id="267" r:id="R29d77b39058942a5"/>
    <p:sldId xmlns:r="http://schemas.openxmlformats.org/officeDocument/2006/relationships" id="268" r:id="R327c24b0ebe14e5b"/>
    <p:sldId xmlns:r="http://schemas.openxmlformats.org/officeDocument/2006/relationships" id="269" r:id="R45d9f62db0a74bbe"/>
    <p:sldId xmlns:r="http://schemas.openxmlformats.org/officeDocument/2006/relationships" id="270" r:id="R20bf9557c1804c0b"/>
    <p:sldId xmlns:r="http://schemas.openxmlformats.org/officeDocument/2006/relationships" id="271" r:id="Rfcf677aa0eb84fb4"/>
    <p:sldId xmlns:r="http://schemas.openxmlformats.org/officeDocument/2006/relationships" id="272" r:id="R50f24acede5d4727"/>
    <p:sldId xmlns:r="http://schemas.openxmlformats.org/officeDocument/2006/relationships" id="273" r:id="R9ac8ad6c37134b6b"/>
    <p:sldId xmlns:r="http://schemas.openxmlformats.org/officeDocument/2006/relationships" id="274" r:id="R00cc3b65ab1640b2"/>
    <p:sldId xmlns:r="http://schemas.openxmlformats.org/officeDocument/2006/relationships" id="275" r:id="R27ea041d663a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c06b058ad4eae" /><Relationship Type="http://schemas.openxmlformats.org/officeDocument/2006/relationships/slideMaster" Target="/ppt/slideMasters/slideMaster1.xml" Id="R70cd2d4c8b624864" /><Relationship Type="http://schemas.openxmlformats.org/officeDocument/2006/relationships/notesMaster" Target="/ppt/notesMasters/notesMaster1.xml" Id="R69d822c2f7644b09" /><Relationship Type="http://schemas.openxmlformats.org/officeDocument/2006/relationships/presProps" Target="/ppt/presProps.xml" Id="R3b12a1f0010f4ae5" /><Relationship Type="http://schemas.openxmlformats.org/officeDocument/2006/relationships/tableStyles" Target="/ppt/tableStyles.xml" Id="R6248d22a7cba47f7" /><Relationship Type="http://schemas.openxmlformats.org/officeDocument/2006/relationships/slide" Target="/ppt/slides/slide1.xml" Id="R50861ee274054e18" /><Relationship Type="http://schemas.openxmlformats.org/officeDocument/2006/relationships/slide" Target="/ppt/slides/slide2.xml" Id="R41405c13310943d5" /><Relationship Type="http://schemas.openxmlformats.org/officeDocument/2006/relationships/slide" Target="/ppt/slides/slide3.xml" Id="R0924c6a35e5948a1" /><Relationship Type="http://schemas.openxmlformats.org/officeDocument/2006/relationships/slide" Target="/ppt/slides/slide4.xml" Id="R9e88e31dcf324c29" /><Relationship Type="http://schemas.openxmlformats.org/officeDocument/2006/relationships/slide" Target="/ppt/slides/slide5.xml" Id="R425bfa72d0714722" /><Relationship Type="http://schemas.openxmlformats.org/officeDocument/2006/relationships/slide" Target="/ppt/slides/slide6.xml" Id="R8ead55a7cccd4fde" /><Relationship Type="http://schemas.openxmlformats.org/officeDocument/2006/relationships/slide" Target="/ppt/slides/slide7.xml" Id="Re796f7d22ef64af5" /><Relationship Type="http://schemas.openxmlformats.org/officeDocument/2006/relationships/slide" Target="/ppt/slides/slide8.xml" Id="R72acdbfe0bd147b8" /><Relationship Type="http://schemas.openxmlformats.org/officeDocument/2006/relationships/slide" Target="/ppt/slides/slide9.xml" Id="R9f05080cc70a45bd" /><Relationship Type="http://schemas.openxmlformats.org/officeDocument/2006/relationships/slide" Target="/ppt/slides/slide10.xml" Id="Refd68bf2012f4184" /><Relationship Type="http://schemas.openxmlformats.org/officeDocument/2006/relationships/slide" Target="/ppt/slides/slide11.xml" Id="R7e0617ee3b7341da" /><Relationship Type="http://schemas.openxmlformats.org/officeDocument/2006/relationships/slide" Target="/ppt/slides/slide12.xml" Id="R29d77b39058942a5" /><Relationship Type="http://schemas.openxmlformats.org/officeDocument/2006/relationships/slide" Target="/ppt/slides/slide13.xml" Id="R327c24b0ebe14e5b" /><Relationship Type="http://schemas.openxmlformats.org/officeDocument/2006/relationships/slide" Target="/ppt/slides/slide14.xml" Id="R45d9f62db0a74bbe" /><Relationship Type="http://schemas.openxmlformats.org/officeDocument/2006/relationships/slide" Target="/ppt/slides/slide15.xml" Id="R20bf9557c1804c0b" /><Relationship Type="http://schemas.openxmlformats.org/officeDocument/2006/relationships/slide" Target="/ppt/slides/slide16.xml" Id="Rfcf677aa0eb84fb4" /><Relationship Type="http://schemas.openxmlformats.org/officeDocument/2006/relationships/slide" Target="/ppt/slides/slide17.xml" Id="R50f24acede5d4727" /><Relationship Type="http://schemas.openxmlformats.org/officeDocument/2006/relationships/slide" Target="/ppt/slides/slide18.xml" Id="R9ac8ad6c37134b6b" /><Relationship Type="http://schemas.openxmlformats.org/officeDocument/2006/relationships/slide" Target="/ppt/slides/slide19.xml" Id="R00cc3b65ab1640b2" /><Relationship Type="http://schemas.openxmlformats.org/officeDocument/2006/relationships/slide" Target="/ppt/slides/slide20.xml" Id="R27ea041d663a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300460566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ee77f5a0d426c" /><Relationship Type="http://schemas.openxmlformats.org/officeDocument/2006/relationships/notesMaster" Target="/ppt/notesMasters/notesMaster1.xml" Id="R0c3ba124358b45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8bcccbb6746df" /><Relationship Type="http://schemas.openxmlformats.org/officeDocument/2006/relationships/notesMaster" Target="/ppt/notesMasters/notesMaster1.xml" Id="R8b27f38c2229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fb66684004107" /><Relationship Type="http://schemas.openxmlformats.org/officeDocument/2006/relationships/notesMaster" Target="/ppt/notesMasters/notesMaster1.xml" Id="R5b817b1c73eb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677e8ab9b4665" /><Relationship Type="http://schemas.openxmlformats.org/officeDocument/2006/relationships/notesMaster" Target="/ppt/notesMasters/notesMaster1.xml" Id="R15f280a07b22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e942ef6644e4f" /><Relationship Type="http://schemas.openxmlformats.org/officeDocument/2006/relationships/notesMaster" Target="/ppt/notesMasters/notesMaster1.xml" Id="R8672ae1d8a6f43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b384954c54f81" /><Relationship Type="http://schemas.openxmlformats.org/officeDocument/2006/relationships/notesMaster" Target="/ppt/notesMasters/notesMaster1.xml" Id="Re26b2a65b98545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13ad88ee404001" /><Relationship Type="http://schemas.openxmlformats.org/officeDocument/2006/relationships/notesMaster" Target="/ppt/notesMasters/notesMaster1.xml" Id="R6d80b753cbeb42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6ae8068e841a8" /><Relationship Type="http://schemas.openxmlformats.org/officeDocument/2006/relationships/notesMaster" Target="/ppt/notesMasters/notesMaster1.xml" Id="R11937b75586b49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0ed63d39e54d2b" /><Relationship Type="http://schemas.openxmlformats.org/officeDocument/2006/relationships/notesMaster" Target="/ppt/notesMasters/notesMaster1.xml" Id="Ra339162bf022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fc740c80a14c12" /><Relationship Type="http://schemas.openxmlformats.org/officeDocument/2006/relationships/notesMaster" Target="/ppt/notesMasters/notesMaster1.xml" Id="R07f684cadf9441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a96fcb25fb4c74" /><Relationship Type="http://schemas.openxmlformats.org/officeDocument/2006/relationships/notesMaster" Target="/ppt/notesMasters/notesMaster1.xml" Id="Rbffb562d0cef42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4266d121e479e" /><Relationship Type="http://schemas.openxmlformats.org/officeDocument/2006/relationships/notesMaster" Target="/ppt/notesMasters/notesMaster1.xml" Id="R03d018c9810f4e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5d4ee99499414b" /><Relationship Type="http://schemas.openxmlformats.org/officeDocument/2006/relationships/notesMaster" Target="/ppt/notesMasters/notesMaster1.xml" Id="Rc8d557ec447949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7bbe1406694411" /><Relationship Type="http://schemas.openxmlformats.org/officeDocument/2006/relationships/notesMaster" Target="/ppt/notesMasters/notesMaster1.xml" Id="R1128460299f74f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464313864643fa" /><Relationship Type="http://schemas.openxmlformats.org/officeDocument/2006/relationships/notesMaster" Target="/ppt/notesMasters/notesMaster1.xml" Id="R675096f480f74d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5f2815b31d485b" /><Relationship Type="http://schemas.openxmlformats.org/officeDocument/2006/relationships/notesMaster" Target="/ppt/notesMasters/notesMaster1.xml" Id="Rb9ae57d9be1146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a35572cd7f4e43" /><Relationship Type="http://schemas.openxmlformats.org/officeDocument/2006/relationships/notesMaster" Target="/ppt/notesMasters/notesMaster1.xml" Id="R3b52626a777c4f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6422d7424d4031" /><Relationship Type="http://schemas.openxmlformats.org/officeDocument/2006/relationships/notesMaster" Target="/ppt/notesMasters/notesMaster1.xml" Id="R23fbe104adfe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1fe71eb00f4bf9" /><Relationship Type="http://schemas.openxmlformats.org/officeDocument/2006/relationships/notesMaster" Target="/ppt/notesMasters/notesMaster1.xml" Id="R6b291a491e3841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b8be68066f43d4" /><Relationship Type="http://schemas.openxmlformats.org/officeDocument/2006/relationships/notesMaster" Target="/ppt/notesMasters/notesMaster1.xml" Id="R5f80d2918a93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morning. I am Tun Wai Lin, roll number 2019-MIIT-CSE-056.</a:t>
            </a:r>
          </a:p>
          <a:p xmlns:a="http://schemas.openxmlformats.org/drawingml/2006/main">
            <a:r>
              <a:t>My capstone investigates how to automate engineering information from aviation regulatory documents while preserving version control, evidence, and human review.</a:t>
            </a:r>
          </a:p>
          <a:p xmlns:a="http://schemas.openxmlformats.org/drawingml/2006/main">
            <a:r>
              <a:t>Today I will explain the research problem, proposed system, dataset and evaluation design, timeline, evidence completed so far, and remaining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name and roll number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EASA Airworthiness Directive is a safety-critical regulatory publication. The same AD family can have several physical PDFs and lifecycle states.</a:t>
            </a:r>
          </a:p>
          <a:p xmlns:a="http://schemas.openxmlformats.org/drawingml/2006/main">
            <a:r>
              <a:t>The main failure mode I am addressing is not only extraction error. It is also lifecycle error: retrieving an outdated revision or combining requirements from two versions.</a:t>
            </a:r>
          </a:p>
          <a:p xmlns:a="http://schemas.openxmlformats.org/drawingml/2006/main">
            <a:r>
              <a:t>Therefore, the project treats each AD as a version-controlled regulatory object rather than an independent generic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questions separate the system into testable capabilities: extraction, lifecycle selection, retrieval, and grounded answering.</a:t>
            </a:r>
          </a:p>
          <a:p xmlns:a="http://schemas.openxmlformats.org/drawingml/2006/main">
            <a:r>
              <a:t>The final claim will depend on measured comparisons, not only on building a working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corpus focuses on final EU-issued EASA ADs for Airbus S.A.S.</a:t>
            </a:r>
          </a:p>
          <a:p xmlns:a="http://schemas.openxmlformats.org/drawingml/2006/main">
            <a:r>
              <a:t>The assistant supports engineering review. It does not determine legal compliance, authorize maintenance, or replace licensed engineering judgment.</a:t>
            </a:r>
          </a:p>
          <a:p xmlns:a="http://schemas.openxmlformats.org/drawingml/2006/main">
            <a:r>
              <a:t>Service Bulletin identifiers may be extracted, but Service Bulletins are not primary indexed documents in this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RAG, LLM extraction, and aviation question answering are not individually novel.</a:t>
            </a:r>
          </a:p>
          <a:p xmlns:a="http://schemas.openxmlformats.org/drawingml/2006/main">
            <a:r>
              <a:t>The defensible contribution is their integration with corpus governance, lifecycle modelling, structured compliance units, hybrid retrieval, evidence-level traceability, and human-validated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begins with source governance, not embeddings.</a:t>
            </a:r>
          </a:p>
          <a:p xmlns:a="http://schemas.openxmlformats.org/drawingml/2006/main">
            <a:r>
              <a:t>Lifecycle selection happens before answer generation. The operational view defaults to the latest verified applicable publication, while the historical view remains available for version-specific questions.</a:t>
            </a:r>
          </a:p>
          <a:p xmlns:a="http://schemas.openxmlformats.org/drawingml/2006/main">
            <a:r>
              <a:t>Every downstream chunk and answer retains stable file identity, AD and version, page range, section, and lifecycle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historical view is complete and auditable; it is not a trash bin for old PDFs.</a:t>
            </a:r>
          </a:p>
          <a:p xmlns:a="http://schemas.openxmlformats.org/drawingml/2006/main">
            <a:r>
              <a:t>The operational view is optimized for current engineering questions and excludes unresolved conflicts.</a:t>
            </a:r>
          </a:p>
          <a:p xmlns:a="http://schemas.openxmlformats.org/drawingml/2006/main">
            <a:r>
              <a:t>The system must never silently combine requirements from different AD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compliance unit is more useful than a loose list of extracted fields because it preserves relationships.</a:t>
            </a:r>
          </a:p>
          <a:p xmlns:a="http://schemas.openxmlformats.org/drawingml/2006/main">
            <a:r>
              <a:t>For example, a required inspection must remain linked to the exact applicability condition, timing threshold, repeat interval, terminating action, and supporting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/Users/tunwailin/Documents/Capstone/docs/PDF_TO_GOLD_FRAMEWORK.md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Machine extraction and validator success never constitute human approval.</a:t>
            </a:r>
          </a:p>
          <a:p xmlns:a="http://schemas.openxmlformats.org/drawingml/2006/main">
            <a:r>
              <a:t>Frozen selections, canonical PDFs, and human review queues are read-only. Corrections are made only in human_review_working.</a:t>
            </a:r>
          </a:p>
          <a:p xmlns:a="http://schemas.openxmlformats.org/drawingml/2006/main">
            <a:r>
              <a:t>A release is complete only after strict validation and cloud readback of the exact release membership and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/Users/tunwailin/Documents/Capstone/docs/PDF_TO_GOLD_FRAMEWORK.md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controls address silent data leakage and benchmark drift.</a:t>
            </a:r>
          </a:p>
          <a:p xmlns:a="http://schemas.openxmlformats.org/drawingml/2006/main">
            <a:r>
              <a:t>Manual corpus corrections are recorded as overrides rather than hand-editing a generated manifest.</a:t>
            </a:r>
          </a:p>
          <a:p xmlns:a="http://schemas.openxmlformats.org/drawingml/2006/main">
            <a:r>
              <a:t>After the test benchmark is locked in Week 7, prompts and thresholds must not be tuned on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/Users/tunwailin/Documents/Capstone/docs/BENCHMARK_DESIGN.md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corpus snapshot has 1,809 physical PDFs, 1,809 parsed AD numbers, 1,808 unique base AD numbers, and 1,809 logical versions.</a:t>
            </a:r>
          </a:p>
          <a:p xmlns:a="http://schemas.openxmlformats.org/drawingml/2006/main">
            <a:r>
              <a:t>The automatic audit found 345 revised files, 9 correction files, 17 near-duplicate candidate pairs, and 617 candidate supersedure links.</a:t>
            </a:r>
          </a:p>
          <a:p xmlns:a="http://schemas.openxmlformats.org/drawingml/2006/main">
            <a:r>
              <a:t>These counts prove the audit ran; they do not prove lifecycle review is complete. Candidate relationships still require human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/Users/tunwailin/Documents/Capstone/step3_pilot/source_metadata/corpus_summary.json</a:t>
            </a:r>
          </a:p>
          <a:p xmlns:a="http://schemas.openxmlformats.org/drawingml/2006/main">
            <a:r>
              <a:t>- /Users/tunwailin/Documents/Capstone/docs/PROJECT_STATUS.md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release contains 30 preserved pilot records plus 20 separately reviewed and approved extension records.</a:t>
            </a:r>
          </a:p>
          <a:p xmlns:a="http://schemas.openxmlformats.org/drawingml/2006/main">
            <a:r>
              <a:t>All five reusable gates passed: membership, source integrity, strict schema and semantics, human approval, and evidence quotes.</a:t>
            </a:r>
          </a:p>
          <a:p xmlns:a="http://schemas.openxmlformats.org/drawingml/2006/main">
            <a:r>
              <a:t>Drive readback confirmed exactly 50 expected filenames with matching byte sizes and no unexpected files. Because Drive did not expose hashes, this is operational readback evidence, not a byte-hash equality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/Users/tunwailin/Documents/Capstone/docs/PROJECT_STATUS.md</a:t>
            </a:r>
          </a:p>
          <a:p xmlns:a="http://schemas.openxmlformats.org/drawingml/2006/main">
            <a:r>
              <a:t>- /Users/tunwailin/Documents/Capstone/gold_releases/easa_airbus_ad_gold_v2/validation/final_validation.json</a:t>
            </a:r>
          </a:p>
          <a:p xmlns:a="http://schemas.openxmlformats.org/drawingml/2006/main">
            <a:r>
              <a:t>- /Users/tunwailin/Documents/Capstone/gold_releases/easa_airbus_ad_gold_v2/drive_readback.json</a:t>
            </a:r>
          </a:p>
          <a:p xmlns:a="http://schemas.openxmlformats.org/drawingml/2006/main">
            <a:r>
              <a:t>- /Users/tunwailin/Documents/Capstone/gold_releases/easa_airbus_ad_gold_v2/RELEASE_NOTES.md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fixed core is 100 annotated ADs, 150 evidence-backed questions, and 30 human reference summaries.</a:t>
            </a:r>
          </a:p>
          <a:p xmlns:a="http://schemas.openxmlformats.org/drawingml/2006/main">
            <a:r>
              <a:t>An optional stretch to 200 ADs and 50 summaries is allowed only after the core passes validation.</a:t>
            </a:r>
          </a:p>
          <a:p xmlns:a="http://schemas.openxmlformats.org/drawingml/2006/main">
            <a:r>
              <a:t>The original core test partition remains frozen even if the dataset later expands.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/Users/tunwailin/Documents/Capstone/docs/BENCHMARK_DESIGN.md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primary comparison for the research contribution.</a:t>
            </a:r>
          </a:p>
          <a:p xmlns:a="http://schemas.openxmlformats.org/drawingml/2006/main">
            <a:r>
              <a:t>Additional experiments will compare extraction approaches and run selected ablations, but the central result is E0 versus E4 on the same locked test set.</a:t>
            </a:r>
          </a:p>
          <a:p xmlns:a="http://schemas.openxmlformats.org/drawingml/2006/main">
            <a:r>
              <a:t>All actual results will be reported even if planned thresholds are missed.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/Users/tunwailin/Documents/Capstone/docs/DECISIONS.md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are planned success thresholds, not current results.</a:t>
            </a:r>
          </a:p>
          <a:p xmlns:a="http://schemas.openxmlformats.org/drawingml/2006/main">
            <a:r>
              <a:t>Other planned measures include latest-version selection accuracy of at least 0.98 and evidence faithfulness of at least 0.95.</a:t>
            </a:r>
          </a:p>
          <a:p xmlns:a="http://schemas.openxmlformats.org/drawingml/2006/main">
            <a:r>
              <a:t>Final reporting will include confidence intervals or appropriate statistical tests, ablations, and qualitative error categories where feasible.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runs from 13 July to 30 September 2026.</a:t>
            </a:r>
          </a:p>
          <a:p xmlns:a="http://schemas.openxmlformats.org/drawingml/2006/main">
            <a:r>
              <a:t>The first arc establishes trustworthy data. The second builds and compares the technical pipelines. The final arc integrates the assistant, evaluates it, and completes the reproducibility and submission package.</a:t>
            </a:r>
          </a:p>
          <a:p xmlns:a="http://schemas.openxmlformats.org/drawingml/2006/main">
            <a:r>
              <a:t>As of 3 August, I am entering Week 4: the 50-record combined release exists, while corpus lifecycle review and the next benchmark artifacts remain active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- /Users/tunwailin/Documents/Capstone/docs/PROJECT_STATUS.md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schedule is intentionally milestone-based, so each week produces an inspectable artifact.</a:t>
            </a:r>
          </a:p>
          <a:p xmlns:a="http://schemas.openxmlformats.org/drawingml/2006/main">
            <a:r>
              <a:t>The test benchmark locks in Week 7. After that, tuning must use only training and development data.</a:t>
            </a:r>
          </a:p>
          <a:p xmlns:a="http://schemas.openxmlformats.org/drawingml/2006/main">
            <a:r>
              <a:t>The stretch dataset is secondary; it must not displace the validated core, retrieval evaluation, or thesis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- /Users/tunwailin/Documents/Capstone/docs/BENCHMARK_DESIGN.md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confirmed artifacts from planned work.</a:t>
            </a:r>
          </a:p>
          <a:p xmlns:a="http://schemas.openxmlformats.org/drawingml/2006/main">
            <a:r>
              <a:t>The 50-record combined release is real and validated, but the standalone 30-record local package and standalone 20-record Drive publication still need their own complete release evidence.</a:t>
            </a:r>
          </a:p>
          <a:p xmlns:a="http://schemas.openxmlformats.org/drawingml/2006/main">
            <a:r>
              <a:t>The final retrieval index, assistant, locked QA benchmark, reference summaries, and final evaluation results do not yet exist and should not be presented as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/Users/tunwailin/Documents/Capstone/docs/PROJECT_STATUS.md</a:t>
            </a:r>
          </a:p>
          <a:p xmlns:a="http://schemas.openxmlformats.org/drawingml/2006/main">
            <a:r>
              <a:t>- /Users/tunwailin/Documents/Capstone/gold_releases/easa_airbus_ad_gold_v2/validation/final_validation.json</a:t>
            </a:r>
          </a:p>
          <a:p xmlns:a="http://schemas.openxmlformats.org/drawingml/2006/main">
            <a:r>
              <a:t>- /Users/tunwailin/Documents/Capstone/gold_releases/easa_airbus_ad_gold_v2/drive_readback.json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important research risks are lifecycle leakage and incorrectly treating machine-assisted labels as human-approved truth.</a:t>
            </a:r>
          </a:p>
          <a:p xmlns:a="http://schemas.openxmlformats.org/drawingml/2006/main">
            <a:r>
              <a:t>The most important execution risk is the compressed schedule. The response is to protect the fixed core and final evaluation before attempting stretch targets.</a:t>
            </a:r>
          </a:p>
          <a:p xmlns:a="http://schemas.openxmlformats.org/drawingml/2006/main">
            <a:r>
              <a:t>The final demonstration should show current and historical queries, exact citations, lifecycle warnings, and abstention when evidence is missing or conflicting.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- /Users/tunwailin/Documents/Capstone/docs/BENCHMARK_DESIGN.md</a:t>
            </a:r>
          </a:p>
          <a:p xmlns:a="http://schemas.openxmlformats.org/drawingml/2006/main">
            <a:r>
              <a:t>- /Users/tunwailin/Documents/Capstone/docs/PDF_TO_GOLD_FRAMEWORK.md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idea is simple: trustworthy aviation document automation requires lifecycle-aware data governance and evidence, not only a language model.</a:t>
            </a:r>
          </a:p>
          <a:p xmlns:a="http://schemas.openxmlformats.org/drawingml/2006/main">
            <a:r>
              <a:t>I welcome questions on the corpus, annotation method, architecture, evaluation design, or current implementation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/Users/tunwailin/Documents/Capstone/AGENTS.md</a:t>
            </a:r>
          </a:p>
          <a:p xmlns:a="http://schemas.openxmlformats.org/drawingml/2006/main">
            <a:r>
              <a:t>- /Users/tunwailin/Documents/Capstone/docs/PROJECT_PLAN.md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dbf577144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eb96ab8824e7c" /><Relationship Type="http://schemas.openxmlformats.org/officeDocument/2006/relationships/slideLayout" Target="/ppt/slideLayouts/slideLayout1.xml" Id="R23624acad289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24acad289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34ef47ba745b3" /><Relationship Type="http://schemas.openxmlformats.org/officeDocument/2006/relationships/notesSlide" Target="/ppt/notesSlides/notesSlide1.xml" Id="R7fdc9e26f8814c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10ede38744a50" /><Relationship Type="http://schemas.openxmlformats.org/officeDocument/2006/relationships/notesSlide" Target="/ppt/notesSlides/notesSlide2.xml" Id="R2550838cb79341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c267ba6f94f9e" /><Relationship Type="http://schemas.openxmlformats.org/officeDocument/2006/relationships/notesSlide" Target="/ppt/notesSlides/notesSlide3.xml" Id="R77dd8aac190b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b7dabbb14627" /><Relationship Type="http://schemas.openxmlformats.org/officeDocument/2006/relationships/notesSlide" Target="/ppt/notesSlides/notesSlide4.xml" Id="R26032df97fa947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e185c8bcb4e62" /><Relationship Type="http://schemas.openxmlformats.org/officeDocument/2006/relationships/notesSlide" Target="/ppt/notesSlides/notesSlide5.xml" Id="R29eaf7c2a1be49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8dd138bb5499f" /><Relationship Type="http://schemas.openxmlformats.org/officeDocument/2006/relationships/notesSlide" Target="/ppt/notesSlides/notesSlide6.xml" Id="Rfb8d7676cbbe4f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dea7334241f6" /><Relationship Type="http://schemas.openxmlformats.org/officeDocument/2006/relationships/notesSlide" Target="/ppt/notesSlides/notesSlide7.xml" Id="Rd2c598359c87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2cd25a8bf4966" /><Relationship Type="http://schemas.openxmlformats.org/officeDocument/2006/relationships/notesSlide" Target="/ppt/notesSlides/notesSlide8.xml" Id="R02d255284bb0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efe1e66124271" /><Relationship Type="http://schemas.openxmlformats.org/officeDocument/2006/relationships/notesSlide" Target="/ppt/notesSlides/notesSlide9.xml" Id="Rb9f7ec4098e14c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843adeb04a71" /><Relationship Type="http://schemas.openxmlformats.org/officeDocument/2006/relationships/notesSlide" Target="/ppt/notesSlides/notesSlide10.xml" Id="Rb95d4e391b8448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9f40c5158492a" /><Relationship Type="http://schemas.openxmlformats.org/officeDocument/2006/relationships/notesSlide" Target="/ppt/notesSlides/notesSlide11.xml" Id="R4c38d28fd1ad45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daa71a8c3467a" /><Relationship Type="http://schemas.openxmlformats.org/officeDocument/2006/relationships/notesSlide" Target="/ppt/notesSlides/notesSlide12.xml" Id="Rdd47e687d50e47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bcdaac2024440" /><Relationship Type="http://schemas.openxmlformats.org/officeDocument/2006/relationships/notesSlide" Target="/ppt/notesSlides/notesSlide13.xml" Id="Rd0ce2efe74f242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7c0f89b444d98" /><Relationship Type="http://schemas.openxmlformats.org/officeDocument/2006/relationships/notesSlide" Target="/ppt/notesSlides/notesSlide14.xml" Id="Rf7e8ef8876ee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c9e2f38e44e2a" /><Relationship Type="http://schemas.openxmlformats.org/officeDocument/2006/relationships/notesSlide" Target="/ppt/notesSlides/notesSlide15.xml" Id="Rab2a6b13804048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745f2818e4c86" /><Relationship Type="http://schemas.openxmlformats.org/officeDocument/2006/relationships/notesSlide" Target="/ppt/notesSlides/notesSlide16.xml" Id="Rd4e27207cf694d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dba6c20834782" /><Relationship Type="http://schemas.openxmlformats.org/officeDocument/2006/relationships/notesSlide" Target="/ppt/notesSlides/notesSlide17.xml" Id="R1254d1ae470940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c824d70754339" /><Relationship Type="http://schemas.openxmlformats.org/officeDocument/2006/relationships/notesSlide" Target="/ppt/notesSlides/notesSlide18.xml" Id="Rdbc8cda71e8342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809e868604e4c" /><Relationship Type="http://schemas.openxmlformats.org/officeDocument/2006/relationships/notesSlide" Target="/ppt/notesSlides/notesSlide19.xml" Id="R9ac490a2313340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ef2bc8bf143e0" /><Relationship Type="http://schemas.openxmlformats.org/officeDocument/2006/relationships/notesSlide" Target="/ppt/notesSlides/notesSlide20.xml" Id="R8a8cbf791c1b43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514C646-F4C5-455D-83F5-C780F04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Intelligent Engineering
Document Automation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D034875-5349-466A-BB3B-94405A07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Aviation Maintenance
Tun Wai Lin
Roll No. 2019-MIIT-CSE-056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E4AA655-5C15-4E2D-BB86-FE16C0EA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MIIT CAPSTONE PRESENTATION  •  3 AUGUST 2026</a:t>
            </a:r>
          </a:p>
        </p:txBody>
      </p:sp>
    </p:spTree>
    <p:extLst>
      <p:ext uri="{BB962C8B-B14F-4D97-AF65-F5344CB8AC3E}">
        <p14:creationId xmlns:p14="http://schemas.microsoft.com/office/powerpoint/2010/main" val="18871643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756E9D-04CB-4E38-820A-07CBB38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10ACC7A-EC3D-4A18-B359-13395B90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generic PDF assistant can retrieve the wrong regulatory version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F7DD67C-5989-4A82-A628-3018970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document challenge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Airworthiness Directive can be original, revised, corrected, emergency-issued, or superseded. Similar PDFs may contain different legal requirements.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D4F2C44-698C-43B5-977E-7FC300B1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engineering consequence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chunking can mix versions, lose tables and conditions, or cite stale text. In maintenance, a fluent answer is not enough; it must be current and traceable.</a:t>
            </a:r>
          </a:p>
        </p:txBody>
      </p:sp>
    </p:spTree>
    <p:extLst>
      <p:ext uri="{BB962C8B-B14F-4D97-AF65-F5344CB8AC3E}">
        <p14:creationId xmlns:p14="http://schemas.microsoft.com/office/powerpoint/2010/main" val="18930252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A449D57-A0B8-498D-AE94-7DA13EA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4F5550B-F8F1-467E-9C56-C455237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asks four measurable research questions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15A362B-5041-417A-B4DA-5EDEF7C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RQ1 • Extraction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accurately can deterministic parsing and schema-constrained models extract maintenance-compliance information?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F8ED270-0CD6-45F1-9A02-6BD97E18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 • Lifecycle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much does explicit lifecycle modelling improve current-version selection and reduce stale retrieval?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BE5B30F-B506-40A3-B930-9449FA4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RQ3 • Retrieval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Does version-aware hybrid retrieval outperform flat dense-only retrieval?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F19FAB9-7232-4A6E-8CEE-0450B73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RQ4 • Grounding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evidence-constrained generation provide faithful, page-cited answers and reliable abstention?</a:t>
            </a:r>
          </a:p>
        </p:txBody>
      </p:sp>
    </p:spTree>
    <p:extLst>
      <p:ext uri="{BB962C8B-B14F-4D97-AF65-F5344CB8AC3E}">
        <p14:creationId xmlns:p14="http://schemas.microsoft.com/office/powerpoint/2010/main" val="1372807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FD64E98-97E9-4371-B0E4-3F84A34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9FB8A3C-2C6E-485A-B568-FF0B759A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scope is narrow enough for a defensible safety-critical study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E5E8CB4-F2BC-4AF9-80A9-7D62D6B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Included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Final EU-issued EASA ADs
• Approval holder: Airbus S.A.S.
• Originals, revisions, corrections and superseded history
• English PDFs and EASA metadata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F45EBD8-CB2C-4786-B9BF-7BB795C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Excluded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Proposed ADs and Safety Information Bulletins
• Foreign-issued ADs and other approval holders
• Service Bulletins as primary documents
• Aircraft-specific compliance decisions</a:t>
            </a:r>
          </a:p>
        </p:txBody>
      </p:sp>
    </p:spTree>
    <p:extLst>
      <p:ext uri="{BB962C8B-B14F-4D97-AF65-F5344CB8AC3E}">
        <p14:creationId xmlns:p14="http://schemas.microsoft.com/office/powerpoint/2010/main" val="19219855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3B9D0A9-C771-477E-ACD8-611ECFA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4DFE496-E277-477C-86E5-46F4A9C7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contribution is the integration—not RAG alone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CD32CA8-876A-4841-BD71-2D8C8299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Hybrid retrieval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BM25 + dense +
fusion + reranking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132FE613-72E2-459C-9983-372016B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traceability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AD, version, page,
section or span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397D7E20-5E0D-4742-B2CC-00F2D34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validation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gates and
versioned gold releases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1EBA358-7AAE-4CCB-97E0-6585E05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Baselines, ablations,
errors and abstention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B157511-3FD6-40DA-AF1A-6DB0A44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governance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Immutable sources
stable file identities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AD17A396-B209-461A-BC6C-DEF631B2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Lifecycle model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Original, revised,
corrected, superseded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2D61D102-6EE6-4D51-9417-EE0DCF0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extraction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Schema-constrained
compliance records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4E46F7AE-01C3-42FB-9E03-1BDF3BE3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 and timing
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3552671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C960CAF-DD16-4053-903C-77A367A5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9FC9CBB-69D4-4DB4-A6EB-B9CCC00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Eight stages turn governed PDFs into grounded answers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76FFA3A-226A-4116-AD7F-776206B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• Extract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Compliance units and
classifications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DA8C441-D8C6-435A-985C-DC7AF7C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 • Retrieve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Hybrid search, fusion,
reranking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5BA23DEE-DF39-4413-94CC-6D7E3F59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• Answer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Evidence-constrained
generation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FB78EF4-3E46-49D2-94EE-D6F5D2C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• Evaluate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Locked tests, metrics
and error analysis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8907EC9-8F4E-443C-80E3-50A9D2B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• Ingest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EASA PDF corpus
kept immutable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2476D7B3-456D-4933-85B2-BE14782A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• Audit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Hashes, IDs, OCR,
duplicates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6095B0B5-11CF-4D4F-9649-1675F8A2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• Model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 families and
lifecycle links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7611812D-03A9-4570-A857-708ADF87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• Structure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Sections, chunks and
provenance</a:t>
            </a:r>
          </a:p>
        </p:txBody>
      </p:sp>
    </p:spTree>
    <p:extLst>
      <p:ext uri="{BB962C8B-B14F-4D97-AF65-F5344CB8AC3E}">
        <p14:creationId xmlns:p14="http://schemas.microsoft.com/office/powerpoint/2010/main" val="16312364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5090F65-C652-4070-B5A9-A90D7F2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1E2B956-6C89-4C09-A99C-6E4E894E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Historical and operational views stop version mixing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0823FF6-494C-4538-ABCD-1F0FF9C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CF04ECA-DA22-4CC3-85D0-2864F5C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602DD5D-8B3F-4164-90A4-B068626C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A3E66A7-05C0-4122-BFA0-434F6351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HISTORICAL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85409D2-7850-4056-99D9-9C4D4E9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B194C79-F0C6-45CE-AC13-D47ACABC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A92B91C-1E9B-40FE-87BC-F1BE4A1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Resolve lifecycle state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identity, same-version conflicts, near duplicates and supersedure evidence.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ADA60A0-448C-4368-AFB7-B0F8AB0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Preserve every verified version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Originals, revisions, corrections and superseded publications remain queryable.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48F3F0C-F9F0-4E26-B7C4-A20B99DF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Default to the latest valid publication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queries use the latest verified applicable version; history is explicit.</a:t>
            </a:r>
          </a:p>
        </p:txBody>
      </p:sp>
    </p:spTree>
    <p:extLst>
      <p:ext uri="{BB962C8B-B14F-4D97-AF65-F5344CB8AC3E}">
        <p14:creationId xmlns:p14="http://schemas.microsoft.com/office/powerpoint/2010/main" val="15369376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0C31862-88BD-4BC9-9B92-E0E790B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3493593-97F9-4ACB-8D45-A63F480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central data object connects condition, action, timing and proof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A81499F-EA69-4F21-90A7-00E34971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8A19888-4E74-42D2-9E1B-C8060216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6594BB6-7269-49E9-8DA6-628F76F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CB44BDC-0B3C-40C1-8155-9DC9F356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WHEN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FCC8D3-9B21-45F2-BAA7-4D056CA1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C5EBC83-4E9B-4A93-8A13-038ED9D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3111122-4811-4CA0-A304-6D62BBA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 and compliance logic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method, initial threshold, repeat interval, exceptions and terminating action.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90C16BF-E604-4E27-A1C2-06FC6BC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Applicability and condition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Aircraft or part scope, configuration, unsafe condition and triggering context.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5C19C1-7BE0-4741-9662-E719B0B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Publication and evidence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Referenced publication plus exact AD number, version, page and evidence span.</a:t>
            </a:r>
          </a:p>
        </p:txBody>
      </p:sp>
    </p:spTree>
    <p:extLst>
      <p:ext uri="{BB962C8B-B14F-4D97-AF65-F5344CB8AC3E}">
        <p14:creationId xmlns:p14="http://schemas.microsoft.com/office/powerpoint/2010/main" val="14994528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56F4A45-620A-4D77-966A-78BE206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CD12F6D-64B5-4F0B-BEE7-A6EF9D46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Gold data moves through explicit human and validation gates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ED00410-972D-46B9-BC1B-348A11DF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26CD74C-DB43-4304-A41B-10CEEEF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38BB49F-47A8-4304-96A8-84A6847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D89CF51-39B6-4FD0-9D2E-A8B2D6C8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C2BBAB5-7982-4E7C-8FF5-7122C0ED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• Freeze identity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selected
source_verified
machine_first_pass
Canonical PDF identity and hashes are fixed before annotation.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10B2DB63-C6BD-42C6-AF22-27931B5C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C41194C-E4DA-4AB0-AC15-63B0409E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• Review the complete PDF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human_review_pending
human_review_in_progress
human_approved
Only editable working copies may change.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8332A6C-664E-4216-AE43-BAD751B3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6236395-E88A-4C1C-9CEF-74BFE5E3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• Validate and publish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gold_validated
gold_published
Strict schema, evidence checks, manifests, release notes and Drive readback.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4FD36AB4-DDB5-44C3-BD99-F4CEA555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186F3FCF-8EB0-46E3-8E24-88009BB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845DBC53-9F09-40C4-BBEA-99250BA6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4296758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D516DEC-230E-4DCA-9959-9987FCB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DD8942C-BC15-40C8-B06A-FA75DB9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controls keep the benchmark reproducible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FE7E8AD-D04B-4B7B-B86E-593AD53C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Immutable sources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Never delete, rename, overwrite or edit a source PDF. OCR remains a derivative.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3B001FD-F3C9-4E31-9BB3-E10DB0F8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 identity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manifest row per physical PDF, stable file_instance_id and recorded hashes.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7E17C3E-E151-4EC7-B324-79F1E12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Family-level splits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versions of one base AD number stay in the same train, development or test partition.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C36978A-42F2-4122-9C9C-77CA383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truth from predictions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Gold labels, model outputs, approvals and release evidence remain distinct and versioned.</a:t>
            </a:r>
          </a:p>
        </p:txBody>
      </p:sp>
    </p:spTree>
    <p:extLst>
      <p:ext uri="{BB962C8B-B14F-4D97-AF65-F5344CB8AC3E}">
        <p14:creationId xmlns:p14="http://schemas.microsoft.com/office/powerpoint/2010/main" val="11857405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11AF2A4-404D-4A98-9C2A-E55EB4B9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7AFFC4D-7A9D-41CB-A2A2-EAA37420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149AC52-333D-4F11-B931-D721D49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8CA6002-10E7-48DB-BA06-83F8F87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CF0C82-FFC8-458D-8E97-55B232A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automatic corpus audit covers all 1,809 PDFs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E313C0F-5FA7-42F1-889A-81E99E07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manifest rows
0 unparsed IDs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96CF920-D0F8-479F-90DD-F0807F7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supersedure candidates
17 near-duplicate pairs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09D1B494-95A2-41AA-B573-9AC107D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revised AD files
9 corrections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ABCC3D2-0640-424C-9C83-31D9412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1,809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EA9E6D4-9896-415C-9176-88BCE54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345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EC52EFD-F2DA-40EA-BAC0-9CBF9EF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617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78E74BD-D520-490E-8F69-532FC39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CONFIRMED SNAPSHOT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PDF has a parsed AD number and stable inventory row. The audit also generated version, duplicate, near-duplicate and supersedure review reports.</a:t>
            </a:r>
          </a:p>
        </p:txBody>
      </p:sp>
    </p:spTree>
    <p:extLst>
      <p:ext uri="{BB962C8B-B14F-4D97-AF65-F5344CB8AC3E}">
        <p14:creationId xmlns:p14="http://schemas.microsoft.com/office/powerpoint/2010/main" val="16730950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E579534-A3B7-4FAB-967A-9D02A213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98FF141-36D6-4B38-B2A7-56CD16F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6CDDAFA-A58E-4279-9AE8-79A7D21A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F9700CF-2B79-4BF6-8AF5-674A8A8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C0BA59D-C418-4101-829C-BEBEE88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Gold release v2 reaches 50 of 100 core records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9D1D50-B72A-4178-A8FD-95676CF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approved gold records
50 remaining for core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B41EE6-C4AE-4686-B816-8D58130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Drive filenames and sizes
matched local release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46979DC-D4C8-470D-8FDB-8AA1156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gates passed
0 validation errors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1865BFB-29B7-4521-B74A-D7ED3968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 / 100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592E350-3EF2-4EA8-9432-2E0F5A9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7A2A217-A1C2-4FF7-9FA8-72415C4C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28EEF9E-8CDE-47C9-BBE1-B4F54E3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STATUS AS OF 2 AUGUST 2026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30-record pilot and 20-record extension were combined into a new versioned release without mutating the earlier reviewed records.</a:t>
            </a:r>
          </a:p>
        </p:txBody>
      </p:sp>
    </p:spTree>
    <p:extLst>
      <p:ext uri="{BB962C8B-B14F-4D97-AF65-F5344CB8AC3E}">
        <p14:creationId xmlns:p14="http://schemas.microsoft.com/office/powerpoint/2010/main" val="19695888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FA852E0-41BE-41A5-B0A9-B85AE38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D5ED30E-0237-4547-BDAD-3600BE8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fixed benchmark balances breadth with human verification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A32D00E-D69F-4C44-A297-923383D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 gold AD records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sampling covers ordinary latest, revisions or corrections, emergency, historical and structurally difficult cases.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2BB3DAF-85B2-4E1E-8BA0-9D58F449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150 locked QA questions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Identity, applicability, actions, timing, publications, version reasoning, synthesis and abstention.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49EF1A-759B-4CBF-82E1-FEFCA08C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 reference summaries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Whole-document, evidence-checked summaries across lifecycle and complexity strata.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5D6654D-E090-469C-82C8-B1C90D4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 / 20 / 20 split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Train, development and locked test partitions are assigned by base_ad_number to prevent family leakage.</a:t>
            </a:r>
          </a:p>
        </p:txBody>
      </p:sp>
    </p:spTree>
    <p:extLst>
      <p:ext uri="{BB962C8B-B14F-4D97-AF65-F5344CB8AC3E}">
        <p14:creationId xmlns:p14="http://schemas.microsoft.com/office/powerpoint/2010/main" val="195097389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63660FD-C1F1-4A63-B12A-D75076B4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BD9CFD2-8106-49CA-8876-6B24618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 vs E4 tests lifecycle-aware integration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4EDD727-6272-4E8D-B4E4-73FAF07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 • Generic RAG baseline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PDF chunks
Dense-only retrieval
No explicit lifecycle filtering
Generic answer generation
Question: what fails when versions and evidence are not modelled?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CEE0F80-8956-45D3-9659-7F94FEFE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E4 • Full proposed system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Section-aware chunks
BM25 + dense + fusion + reranking
Lifecycle and metadata filtering
Structured records with evidence
Question: does the integrated system improve accuracy and traceability?</a:t>
            </a:r>
          </a:p>
        </p:txBody>
      </p:sp>
    </p:spTree>
    <p:extLst>
      <p:ext uri="{BB962C8B-B14F-4D97-AF65-F5344CB8AC3E}">
        <p14:creationId xmlns:p14="http://schemas.microsoft.com/office/powerpoint/2010/main" val="12440413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56B0F0F-F1B0-4435-BCA1-6AA6464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C9EF218-1BB1-47A0-85E3-AC9E304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Planned thresholds make success measurable—and falsifiable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F0AEACB-88EA-4F9B-A4D8-9F363FC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Recall@5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0.90
retrieval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197B399A-F954-4827-BD04-C7ABBBB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MRR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0.80
retrieval ranking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144ECE7-AE10-49AA-B928-F8F6796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Citation correctness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0.95
evidence links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864E8D34-60A1-489A-8163-125278B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Unsupported claims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≤ 0.05
grounded answers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5EAC7EF-64F1-43D7-9672-CCBED101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validity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98%
model outputs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61A141BE-0015-4E72-B351-B4A4B98D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Core-field F1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0.85
structured extraction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A9F74CC6-AECE-417F-A7F0-1050C986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Tuple F1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0.80
compliance units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F58D2C6-DFAD-4BCC-90A7-3B9EF62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Classification F1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0.85
action and timing</a:t>
            </a:r>
          </a:p>
        </p:txBody>
      </p:sp>
    </p:spTree>
    <p:extLst>
      <p:ext uri="{BB962C8B-B14F-4D97-AF65-F5344CB8AC3E}">
        <p14:creationId xmlns:p14="http://schemas.microsoft.com/office/powerpoint/2010/main" val="13133178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A3F14ED-8D88-4247-B2FA-EBF1ED18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293ECBA-999B-41E2-9AE7-575EBD9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13 July–30 September plan has three execution arcs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7F9C020-6108-4EBA-9EC2-69264D2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B3C8AA1-3A92-4295-B877-B977C3D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EAC7264-9F68-4D95-B1A9-E2C15A0E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DB1B5AA-4EBF-45F2-B0D8-383F360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13 JUL–2 AUG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8879156-780A-4117-BA02-9C017B65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AUG–6 SEP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66A6038-94F2-4382-9586-FBEF2EC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7–30 SEP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A49B0-68F2-4676-BF55-B38C52E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data and retrieval pipelines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Reach 100 gold records; sections, extraction, classification, summaries and hybrid retrieval.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0BFE5B-6928-4955-A4C8-9174EC3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 the corpus and gold data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Manifest, audit reports, schema, review framework and the 50-record checkpoint.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9FDFC00-A62C-4F8E-B6D6-4A87E31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Integrate, evaluate and submit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Grounded assistant, locked evaluation, ablations, error analysis, thesis, presentation and demo.</a:t>
            </a:r>
          </a:p>
        </p:txBody>
      </p:sp>
    </p:spTree>
    <p:extLst>
      <p:ext uri="{BB962C8B-B14F-4D97-AF65-F5344CB8AC3E}">
        <p14:creationId xmlns:p14="http://schemas.microsoft.com/office/powerpoint/2010/main" val="143034332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80B51A8-B79B-40C5-BC96-51C923FE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91E99AE-2648-404B-804D-F24BBC9A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weekly plan moves from 50 records to a locked evaluation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8F007F6-2700-4EF4-A14D-BFC4CA9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8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Version-aware
hybrid retriever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FB587C2-5F7C-429A-B0A0-2C73705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9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Grounded assistant
with abstention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0DE56C28-1E72-46CA-9CBB-4B016A5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evaluation +
archived predictions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E24045D7-0559-451E-BD3D-9F5D49F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Weeks 11–Final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Ablations, thesis,
presentation and demo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BE67F9F-3CF4-4E67-88F5-6BE29EA2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 questions +
section-aware chunks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506A60E8-C094-4337-9722-5A283F77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 gold ADs +
frozen family splits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A6548F98-65BB-4E85-8700-823AAB06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150 questions +
30 summaries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8EE8772E-EDF1-493F-A5A2-CED0F58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 7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checks +
benchmark lock</a:t>
            </a:r>
          </a:p>
        </p:txBody>
      </p:sp>
    </p:spTree>
    <p:extLst>
      <p:ext uri="{BB962C8B-B14F-4D97-AF65-F5344CB8AC3E}">
        <p14:creationId xmlns:p14="http://schemas.microsoft.com/office/powerpoint/2010/main" val="1720436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3EBAC7-EB37-4D24-A925-DA4C4FF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1BBA09-FD15-441C-BFCF-71FF4B60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end-to-end system is not complete yet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889DF5A-D494-4DF1-8A86-FAD67494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Completed or confirmed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1,809-row manifest and audit reports
• Versioned schema and validators
• PDF-to-gold review framework
• 30-record validated pilot
• 20-record approved extension
• 50-record combined release: 5 gates passed and Drive read back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3B4EB18-7446-42A1-ABB6-987771D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work and blockers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Finish Phase 6.2 lifecycle review and canonical views
• Preserve standalone 30-record release package
• Publish/read back standalone 20-record release
• Add 50 records to reach the core
• Build QA, summaries, retrieval, assistant and final evaluation
• Confirm supervisor scope and model budget</a:t>
            </a:r>
          </a:p>
        </p:txBody>
      </p:sp>
    </p:spTree>
    <p:extLst>
      <p:ext uri="{BB962C8B-B14F-4D97-AF65-F5344CB8AC3E}">
        <p14:creationId xmlns:p14="http://schemas.microsoft.com/office/powerpoint/2010/main" val="16600874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C82D4FF-AA0C-46C2-AFD6-7E22CB8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AAF4024-296E-4CAC-9258-E09744A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plan protects validity and delivery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C987484-DA89-4A87-B95D-3B3E20BB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15EC8D9-3B17-46C2-8FDA-066E900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1888A53-75CD-4340-A541-3CA79A3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F01B89A-730F-4305-8DAC-42D7A1C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E908C226-A7FE-4D4E-A0A6-B487581B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Research risks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leakage
false gold approval
incomplete table evidence
benchmark tuning
Controls: family splits, immutable queues, page evidence and a locked test set.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3E27DAE-FC5E-407C-A929-5C1A2EF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C789602-FFCC-46A6-B116-9D865A68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risks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Compressed timeline
human-review workload
API or model budget
OCR and layout complexity
Controls: fixed core first, staged batches, deterministic baselines and abstention.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76E9692-8623-4DF0-82E7-90F3DBD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74D9C4F-24FB-4340-BC8F-FFCB5B46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package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Governed corpus views
100-record gold core
150 QA + 30 summaries
retrieval and assistant prototype
metrics, errors, thesis and demo
Target submission: 30 September 2026.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342F4D07-CC70-4821-ABAD-79A9F3C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C2D1979-8C01-443C-8EB4-5FBBB95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VALIDITY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121C9C4-5F2C-4A68-8A1D-F8B9AE0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0756104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1F4ECB7-7C08-4A9B-AA21-D2A9959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Questions &amp; discussion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25A7C7F-98C0-423B-ACED-01565CB5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Tun Wai Lin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2019-MIIT-CSE-056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completion: 30 September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89B5EB2-AC21-480B-897E-43404A3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MIIT CAPSTONE</a:t>
            </a:r>
          </a:p>
        </p:txBody>
      </p:sp>
    </p:spTree>
    <p:extLst>
      <p:ext uri="{BB962C8B-B14F-4D97-AF65-F5344CB8AC3E}">
        <p14:creationId xmlns:p14="http://schemas.microsoft.com/office/powerpoint/2010/main" val="120138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2026-08-02T19:16:24.6910000Z</dcterms:created>
  <dcterms:modified xsi:type="dcterms:W3CDTF">2026-08-02T19:16:24.6910000Z</dcterms:modified>
</coreProperties>
</file>